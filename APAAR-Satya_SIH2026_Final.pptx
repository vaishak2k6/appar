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64008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b="1" sz="2200">
                <a:solidFill>
                  <a:srgbClr val="1F4E79"/>
                </a:solidFill>
                <a:latin typeface="Arial"/>
              </a:rPr>
              <a:t>SIH26___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</a:t>
            </a:r>
            <a:r>
              <a:rPr b="1" sz="2200">
                <a:solidFill>
                  <a:srgbClr val="1F4E79"/>
                </a:solidFill>
                <a:latin typeface="Arial"/>
              </a:rPr>
              <a:t>APAAR ID-Based Student Data Management and Verification Platform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b="1" sz="2200">
                <a:solidFill>
                  <a:srgbClr val="1F4E79"/>
                </a:solidFill>
                <a:latin typeface="Arial"/>
              </a:rPr>
              <a:t>Smart Education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b="1" sz="2200">
                <a:solidFill>
                  <a:srgbClr val="1F4E79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b="1" sz="2200">
                <a:solidFill>
                  <a:srgbClr val="1F4E79"/>
                </a:solidFill>
                <a:latin typeface="Arial"/>
              </a:rPr>
              <a:t>______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b="1" sz="2200">
                <a:solidFill>
                  <a:srgbClr val="1F4E79"/>
                </a:solidFill>
                <a:latin typeface="Arial"/>
              </a:rPr>
              <a:t>TEAM-RESILIENCE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APAAR-SATYA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image3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5363" name="TextBox 15362"/>
          <p:cNvSpPr txBox="1"/>
          <p:nvPr/>
        </p:nvSpPr>
        <p:spPr>
          <a:xfrm>
            <a:off x="1828800" y="603504"/>
            <a:ext cx="7772400" cy="365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/>
            <a:r>
              <a:rPr sz="1600" b="0" i="1">
                <a:solidFill>
                  <a:srgbClr val="1F4E79"/>
                </a:solidFill>
                <a:latin typeface="Times New Roman"/>
              </a:rPr>
              <a:t>Student Data Management and Verification using APAAR ID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74320" y="1261872"/>
            <a:ext cx="9646920" cy="17830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548640" y="1069848"/>
            <a:ext cx="182880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548640" y="106984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600" b="1" i="0">
                <a:solidFill>
                  <a:srgbClr val="111827"/>
                </a:solidFill>
                <a:latin typeface="Times New Roman"/>
              </a:rPr>
              <a:t>Core Issue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11480" y="1481328"/>
            <a:ext cx="9418320" cy="15544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Only Totals Reach AICTE: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Most institutions report total enrolment, not student-level data.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Excess Admissions: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Seats filled beyond approved intake are hard to detect in time.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Quota Misuse and Ghost Students: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NRI / OCI / FN seats and fake entries are difficult to verify.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Duplicate Enrolment: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The same student may hold seats in two colleges.</a:t>
            </a:r>
          </a:p>
        </p:txBody>
      </p:sp>
      <p:pic>
        <p:nvPicPr>
          <p:cNvPr id="15368" name="Picture 15367" descr="student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1097280"/>
            <a:ext cx="1417320" cy="1874519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15369" name="Rounded Rectangle 15368"/>
          <p:cNvSpPr/>
          <p:nvPr/>
        </p:nvSpPr>
        <p:spPr>
          <a:xfrm>
            <a:off x="274320" y="3310128"/>
            <a:ext cx="6446520" cy="29443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Oval 15369"/>
          <p:cNvSpPr/>
          <p:nvPr/>
        </p:nvSpPr>
        <p:spPr>
          <a:xfrm>
            <a:off x="548640" y="3127248"/>
            <a:ext cx="2651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TextBox 15370"/>
          <p:cNvSpPr txBox="1"/>
          <p:nvPr/>
        </p:nvSpPr>
        <p:spPr>
          <a:xfrm>
            <a:off x="548640" y="312724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600" b="1" i="0">
                <a:solidFill>
                  <a:srgbClr val="111827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11480" y="3566160"/>
            <a:ext cx="6263640" cy="2651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APAAR Records: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Each admitted student is uploaded with APAAR ID.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Seat Ledger: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Seats issued as per approval; extra uploads are blocked.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Three-Source Check: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A record is verified only when three sources agree.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Fraud Check: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Duplicate APAAR IDs, similar names, shared mobiles.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Student Confirmation: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Students confirm via DigiLocker, SMS or IVR.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Verifiable Certificates: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QR code with APAAR ID and Student ID.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903720" y="3310128"/>
            <a:ext cx="5029200" cy="29443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Oval 15373"/>
          <p:cNvSpPr/>
          <p:nvPr/>
        </p:nvSpPr>
        <p:spPr>
          <a:xfrm>
            <a:off x="8549640" y="3127248"/>
            <a:ext cx="17373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TextBox 15374"/>
          <p:cNvSpPr txBox="1"/>
          <p:nvPr/>
        </p:nvSpPr>
        <p:spPr>
          <a:xfrm>
            <a:off x="8549640" y="3127248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600" b="1" i="0">
                <a:solidFill>
                  <a:srgbClr val="111827"/>
                </a:solidFill>
                <a:latin typeface="Times New Roman"/>
              </a:rPr>
              <a:t>Novelty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040880" y="3566160"/>
            <a:ext cx="4800600" cy="2651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Truth Score: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Counselling, DigiLocker, NSP and ABC data are cross-checked.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Passive Liveness: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No semester credits means a possible ghost student.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Policy Simulator: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AICTE can test a new rule first.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Submit Once: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The same data fills AICTE, AISHE and NIRF reports.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Fair Review: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Dual-degree students are not penalised; colleges can appeal.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age3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ounded Rectangle 17410"/>
          <p:cNvSpPr/>
          <p:nvPr/>
        </p:nvSpPr>
        <p:spPr>
          <a:xfrm>
            <a:off x="27432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upload_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1188720"/>
            <a:ext cx="274320" cy="27432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6576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Student Data Upload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(Excel or API, signed by Principal)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441448" y="1554480"/>
            <a:ext cx="192024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65176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6" name="Picture 17415" descr="idcard_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188720"/>
            <a:ext cx="274320" cy="2743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74320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APAAR Validation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(ID format and duplicate check)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818888" y="1554480"/>
            <a:ext cx="192024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502920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policy_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79" y="1188720"/>
            <a:ext cx="274320" cy="27432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512064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Seat and Rule Check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(approved intake, quota rules)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7196327" y="1554480"/>
            <a:ext cx="19202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740664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4" name="Picture 17423" descr="shield_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1188720"/>
            <a:ext cx="274320" cy="27432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749808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Multi-Source Verification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(counselling, DigiLocker, NSP, ABC)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9573768" y="1554480"/>
            <a:ext cx="192024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978408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db_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7160" y="1188720"/>
            <a:ext cx="274320" cy="274320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987552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Central Repository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(secure storage with audit trail)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6103620" y="2011680"/>
            <a:ext cx="0" cy="118872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1348740" y="2130552"/>
            <a:ext cx="950976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134874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Oval 17432"/>
          <p:cNvSpPr/>
          <p:nvPr/>
        </p:nvSpPr>
        <p:spPr>
          <a:xfrm>
            <a:off x="34747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4747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Seat Ledger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27432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32004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Seats issued from approval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7432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32004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Extra uploads blocked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7432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32004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Quota-wise tracking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34874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372618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Oval 17442"/>
          <p:cNvSpPr/>
          <p:nvPr/>
        </p:nvSpPr>
        <p:spPr>
          <a:xfrm>
            <a:off x="272491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272491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Duplicate Check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265176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2697479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Hashed APAAR matching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265176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2697479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Similar name matching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265176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2697479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Shared mobile / bank links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372618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>
            <a:off x="610362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Oval 17452"/>
          <p:cNvSpPr/>
          <p:nvPr/>
        </p:nvSpPr>
        <p:spPr>
          <a:xfrm>
            <a:off x="510235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510235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Student Confirmation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502920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507492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DigiLocker, SMS or IVR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502920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507492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“I did not join” option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02920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507492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Seat surrender request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10362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848106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Oval 17462"/>
          <p:cNvSpPr/>
          <p:nvPr/>
        </p:nvSpPr>
        <p:spPr>
          <a:xfrm>
            <a:off x="747979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747979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Truth Score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740664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745236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Score from 6 sources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740664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745236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Verified or under review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740664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745236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Reason for every flag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848106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2" name="Connector 17471"/>
          <p:cNvCxnSpPr/>
          <p:nvPr/>
        </p:nvCxnSpPr>
        <p:spPr>
          <a:xfrm>
            <a:off x="1085850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Oval 17472"/>
          <p:cNvSpPr/>
          <p:nvPr/>
        </p:nvSpPr>
        <p:spPr>
          <a:xfrm>
            <a:off x="985723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985723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Verification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978408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982980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QR on certificates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978408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982980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Shows only what is needed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978408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TextBox 17479"/>
          <p:cNvSpPr txBox="1"/>
          <p:nvPr/>
        </p:nvSpPr>
        <p:spPr>
          <a:xfrm>
            <a:off x="982980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Student sees access log</a:t>
            </a:r>
          </a:p>
        </p:txBody>
      </p:sp>
      <p:cxnSp>
        <p:nvCxnSpPr>
          <p:cNvPr id="17481" name="Connector 17480"/>
          <p:cNvCxnSpPr/>
          <p:nvPr/>
        </p:nvCxnSpPr>
        <p:spPr>
          <a:xfrm>
            <a:off x="1085850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2" name="Connector 17481"/>
          <p:cNvCxnSpPr/>
          <p:nvPr/>
        </p:nvCxnSpPr>
        <p:spPr>
          <a:xfrm>
            <a:off x="1348740" y="4590288"/>
            <a:ext cx="950976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3" name="Connector 17482"/>
          <p:cNvCxnSpPr/>
          <p:nvPr/>
        </p:nvCxnSpPr>
        <p:spPr>
          <a:xfrm>
            <a:off x="3108960" y="4590288"/>
            <a:ext cx="0" cy="10058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4" name="Connector 17483"/>
          <p:cNvCxnSpPr/>
          <p:nvPr/>
        </p:nvCxnSpPr>
        <p:spPr>
          <a:xfrm>
            <a:off x="9098280" y="4590288"/>
            <a:ext cx="0" cy="10058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274320" y="4690872"/>
            <a:ext cx="5669280" cy="713232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3DA"/>
              </a:gs>
              <a:gs pos="100000">
                <a:srgbClr val="F6B6A0"/>
              </a:gs>
            </a:gsLst>
            <a:lin ang="5400000" scaled="0"/>
          </a:gradFill>
          <a:ln w="15875">
            <a:solidFill>
              <a:srgbClr val="E07A5F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6" name="Picture 17485" descr="monitor_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873752"/>
            <a:ext cx="365760" cy="365760"/>
          </a:xfrm>
          <a:prstGeom prst="rect">
            <a:avLst/>
          </a:prstGeom>
        </p:spPr>
      </p:pic>
      <p:sp>
        <p:nvSpPr>
          <p:cNvPr id="17487" name="TextBox 17486"/>
          <p:cNvSpPr txBox="1"/>
          <p:nvPr/>
        </p:nvSpPr>
        <p:spPr>
          <a:xfrm>
            <a:off x="914400" y="4690872"/>
            <a:ext cx="4937760" cy="71323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AICTE Dashboard</a:t>
            </a:r>
          </a:p>
          <a:p>
            <a:pPr algn="l"/>
            <a:r>
              <a:rPr sz="1250" b="0" i="0">
                <a:solidFill>
                  <a:srgbClr val="111827"/>
                </a:solidFill>
                <a:latin typeface="Times New Roman"/>
              </a:rPr>
              <a:t>Alerts, fill rates, risky institutions and reports.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6263640" y="4690872"/>
            <a:ext cx="5669280" cy="713232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7C8"/>
              </a:gs>
              <a:gs pos="100000">
                <a:srgbClr val="F7B36B"/>
              </a:gs>
            </a:gsLst>
            <a:lin ang="5400000" scaled="0"/>
          </a:gradFill>
          <a:ln w="15875">
            <a:solidFill>
              <a:srgbClr val="E8913A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users_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873752"/>
            <a:ext cx="365760" cy="365760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6903720" y="4690872"/>
            <a:ext cx="4937760" cy="71323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Officer Review and Decision</a:t>
            </a:r>
          </a:p>
          <a:p>
            <a:pPr algn="l"/>
            <a:r>
              <a:rPr sz="1250" b="0" i="0">
                <a:solidFill>
                  <a:srgbClr val="111827"/>
                </a:solidFill>
                <a:latin typeface="Times New Roman"/>
              </a:rPr>
              <a:t>Authorised officer checks the evidence and decides.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274320" y="5532120"/>
            <a:ext cx="11658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411480" y="5532120"/>
            <a:ext cx="11430000" cy="7315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350" b="1" i="0">
                <a:solidFill>
                  <a:srgbClr val="953735"/>
                </a:solidFill>
                <a:latin typeface="Times New Roman"/>
              </a:rPr>
              <a:t>Technologies Used:  </a:t>
            </a:r>
            <a:r>
              <a:rPr sz="1350" b="0" i="0">
                <a:solidFill>
                  <a:srgbClr val="111827"/>
                </a:solidFill>
                <a:latin typeface="Times New Roman"/>
              </a:rPr>
              <a:t>Next.js, React (frontend)  |  FastAPI, PostgreSQL (backend)  |  Python, NetworkX (fraud checks)  |  Keycloak, HashiCorp Vault (security)  |  Simulated APAAR, DigiLocker and NSP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age3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ounded Rectangle 17410"/>
          <p:cNvSpPr/>
          <p:nvPr/>
        </p:nvSpPr>
        <p:spPr>
          <a:xfrm>
            <a:off x="274320" y="1097280"/>
            <a:ext cx="5715000" cy="51663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274320" y="1170432"/>
            <a:ext cx="57150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2200" b="1" i="0">
                <a:solidFill>
                  <a:srgbClr val="111827"/>
                </a:solidFill>
                <a:latin typeface="Times New Roman"/>
              </a:rPr>
              <a:t>FEASIBILITY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57200" y="1755648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48640" y="1810512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Analysis: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Buildable with standard web technologies such as Next.js, FastAPI and PostgreSQL. Prototype screens and core checks are already built and tested on synthetic student records.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57200" y="3200400"/>
            <a:ext cx="5349240" cy="1417320"/>
          </a:xfrm>
          <a:prstGeom prst="rect">
            <a:avLst/>
          </a:prstGeom>
          <a:solidFill>
            <a:srgbClr val="A6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548640" y="3255264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Challenges: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No direct access to APAAR, counselling and NSP data yet. Spelling differences in Indian names may create false duplicate matches.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57200" y="4645152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548640" y="4700016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Strategies: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Use simulated APIs with the real data formats. Normalise common name variants and send doubtful cases for manual review.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217920" y="1097280"/>
            <a:ext cx="5715000" cy="51663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6217920" y="1170432"/>
            <a:ext cx="57150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2200" b="1" i="0">
                <a:solidFill>
                  <a:srgbClr val="111827"/>
                </a:solidFill>
                <a:latin typeface="Times New Roman"/>
              </a:rPr>
              <a:t>VIABILITY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400800" y="1755648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6492240" y="1810512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Analysis: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Low-cost platform for AICTE. Colleges save time because one verified upload fills several reports.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400800" y="3200400"/>
            <a:ext cx="5349240" cy="1417320"/>
          </a:xfrm>
          <a:prstGeom prst="rect">
            <a:avLst/>
          </a:prstGeom>
          <a:solidFill>
            <a:srgbClr val="F8C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6492240" y="3255264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Challenges: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Real data access needs government approval. College adoption and DPDP Act compliance are also challenges.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400800" y="4645152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6492240" y="4700016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Strategies: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Start with one state and its counselling cell. Use role-based access, consent records and audit logs. Free for colleges; paid verification for employers.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age3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ounded Rectangle 17410"/>
          <p:cNvSpPr/>
          <p:nvPr/>
        </p:nvSpPr>
        <p:spPr>
          <a:xfrm>
            <a:off x="365760" y="1536192"/>
            <a:ext cx="5623560" cy="468172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1005840" y="1097280"/>
            <a:ext cx="3657600" cy="658368"/>
          </a:xfrm>
          <a:prstGeom prst="ellipse">
            <a:avLst/>
          </a:prstGeom>
          <a:solidFill>
            <a:srgbClr val="E6F8FC"/>
          </a:solidFill>
          <a:ln w="2222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1005840" y="1097280"/>
            <a:ext cx="3657600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700" b="1" i="0">
                <a:solidFill>
                  <a:srgbClr val="953735"/>
                </a:solidFill>
                <a:latin typeface="Times New Roman"/>
              </a:rPr>
              <a:t>POTENTIAL
IMPACTS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1965960"/>
            <a:ext cx="5303520" cy="4206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Accurate Records: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AICTE gets student-level data instead of only total numbers.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Excess Admission Control: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Seats beyond approved intake are blocked at upload.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Scholarship Protection: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Scholarships reach only verified students.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Faster Inspections: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Risk-based sampling instead of visiting every college.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Student Protection: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Students can report fake enrolment and surrender seats.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Better Planning: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Real fill-rates help AICTE decide next year’s approvals.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63640" y="1536192"/>
            <a:ext cx="5577840" cy="468172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7406640" y="1097280"/>
            <a:ext cx="3291840" cy="548640"/>
          </a:xfrm>
          <a:prstGeom prst="ellipse">
            <a:avLst/>
          </a:prstGeom>
          <a:solidFill>
            <a:srgbClr val="FDEBDD"/>
          </a:solidFill>
          <a:ln w="2222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7406640" y="1097280"/>
            <a:ext cx="329184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700" b="1" i="0">
                <a:solidFill>
                  <a:srgbClr val="953735"/>
                </a:solidFill>
                <a:latin typeface="Times New Roman"/>
              </a:rPr>
              <a:t>BENEFITS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46520" y="1965960"/>
            <a:ext cx="5257800" cy="4206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Less Paperwork: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One verified upload fills AICTE, AISHE and NIRF data.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Trusted Certificates: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Employers verify degrees by scanning a QR code.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Privacy: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Caste, quota and marks are not shown to verifiers.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Transparency: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Every change is saved in a tamper-evident audit log.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Sustainable Model: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Free for students and colleges; employers pay for verification.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Rural Reach: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Students without smartphones confirm by SMS or voice call.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age3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ectangle 17410"/>
          <p:cNvSpPr/>
          <p:nvPr/>
        </p:nvSpPr>
        <p:spPr>
          <a:xfrm>
            <a:off x="274320" y="1097280"/>
            <a:ext cx="5852160" cy="457200"/>
          </a:xfrm>
          <a:prstGeom prst="rect">
            <a:avLst/>
          </a:prstGeom>
          <a:solidFill>
            <a:srgbClr val="8B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320040" y="1097280"/>
            <a:ext cx="576072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[1] Ministry of Education (PIB), APAAR backgrounder, June 2026: 26.30 crore APAAR IDs generated. Available: static.pib.gov.in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274320" y="1572768"/>
            <a:ext cx="5852160" cy="457200"/>
          </a:xfrm>
          <a:prstGeom prst="rect">
            <a:avLst/>
          </a:prstGeom>
          <a:solidFill>
            <a:srgbClr val="B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20040" y="1572768"/>
            <a:ext cx="576072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[2] I. Fellegi and A. Sunter, “A Theory for Record Linkage,” JASA, vol. 64, 1969. doi.org/10.1080/01621459.1969.10501049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2048256"/>
            <a:ext cx="5852160" cy="457200"/>
          </a:xfrm>
          <a:prstGeom prst="rect">
            <a:avLst/>
          </a:prstGeom>
          <a:solidFill>
            <a:srgbClr val="8B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20040" y="2048256"/>
            <a:ext cx="576072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[3] L. Akoglu, H. Tong and D. Koutra, “Graph-based anomaly detection and description: a survey,” DMKD, 2015.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263640" y="1097280"/>
            <a:ext cx="5669280" cy="457200"/>
          </a:xfrm>
          <a:prstGeom prst="rect">
            <a:avLst/>
          </a:prstGeom>
          <a:solidFill>
            <a:srgbClr val="F8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6309360" y="1097280"/>
            <a:ext cx="557784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[4] AICTE Approval Process Handbook 2026–27 and UGC guidelines for pursuing two academic programmes simultaneously, 2022.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263640" y="1572768"/>
            <a:ext cx="5669280" cy="457200"/>
          </a:xfrm>
          <a:prstGeom prst="rect">
            <a:avLst/>
          </a:prstGeom>
          <a:solidFill>
            <a:srgbClr val="FBD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6309360" y="1572768"/>
            <a:ext cx="557784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[5] B. Laurie et al., RFC 6962: Certificate Transparency (Merkle audit logs), IETF, 2013.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263640" y="2048256"/>
            <a:ext cx="5669280" cy="457200"/>
          </a:xfrm>
          <a:prstGeom prst="rect">
            <a:avLst/>
          </a:prstGeom>
          <a:solidFill>
            <a:srgbClr val="F8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6309360" y="2048256"/>
            <a:ext cx="557784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[6] W3C Verifiable Credentials Data Model 2.0; Digital Personal Data Protection Act, 2023.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74320" y="2651760"/>
            <a:ext cx="4343400" cy="19659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411480" y="2688336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400" b="1" i="0">
                <a:solidFill>
                  <a:srgbClr val="953735"/>
                </a:solidFill>
                <a:latin typeface="Times New Roman"/>
              </a:rPr>
              <a:t>SOLUTIONS ALREADY EXIST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80" y="2999232"/>
            <a:ext cx="4114800" cy="160020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AICTE portal collects only total intake.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AISHE survey collects self-reported statistics.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DigiLocker and NAD store issued certificates.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APAAR and ABC give each student an ID.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754880" y="2651760"/>
            <a:ext cx="7178040" cy="19659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4892040" y="2688336"/>
            <a:ext cx="6949440" cy="29260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400" b="1" i="0">
                <a:solidFill>
                  <a:srgbClr val="953735"/>
                </a:solidFill>
                <a:latin typeface="Times New Roman"/>
              </a:rPr>
              <a:t>OUR SOLUTION STANDS OUT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892040" y="2999232"/>
            <a:ext cx="6949440" cy="160020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ONE VERIFIED RECORD: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links APAAR, counselling, DigiLocker, NSP, ABC.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SEAT LEDGER: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blocks admissions beyond approved intake at upload.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STUDENT CONFIRMATION: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students confirm or report their own admission.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EXPLAINABLE FLAGS: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every flag shows its reason for officer review.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PROTOTYPE READY: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dashboards and checks shown on synthetic data.</a:t>
            </a:r>
          </a:p>
        </p:txBody>
      </p:sp>
      <p:pic>
        <p:nvPicPr>
          <p:cNvPr id="17429" name="Picture 17428" descr="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pic>
        <p:nvPicPr>
          <p:cNvPr id="17430" name="Picture 17429" descr="uplo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pic>
        <p:nvPicPr>
          <p:cNvPr id="17431" name="Picture 17430" descr="institut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pic>
        <p:nvPicPr>
          <p:cNvPr id="17432" name="Picture 17431" descr="verify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2864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17433" name="Oval 17432"/>
          <p:cNvSpPr/>
          <p:nvPr/>
        </p:nvSpPr>
        <p:spPr>
          <a:xfrm>
            <a:off x="9281160" y="4736592"/>
            <a:ext cx="2651760" cy="1463040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9418320" y="4828032"/>
            <a:ext cx="2377440" cy="128016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Link:</a:t>
            </a:r>
          </a:p>
          <a:p>
            <a:pPr algn="ctr"/>
            <a:r>
              <a:rPr sz="1300" b="0" i="0">
                <a:solidFill>
                  <a:srgbClr val="1F4E79"/>
                </a:solidFill>
                <a:latin typeface="Times New Roman"/>
              </a:rPr>
              <a:t>[add deployed link]</a:t>
            </a:r>
          </a:p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GitHub link:</a:t>
            </a:r>
          </a:p>
          <a:p>
            <a:pPr algn="ctr"/>
            <a:r>
              <a:rPr sz="1300" b="0" i="0">
                <a:solidFill>
                  <a:srgbClr val="1F4E79"/>
                </a:solidFill>
                <a:latin typeface="Times New Roman"/>
              </a:rPr>
              <a:t>[add repo link]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